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3A8A"/>
                </a:solidFill>
                <a:latin typeface="微软雅黑"/>
              </a:defRPr>
            </a:pPr>
            <a:r>
              <a:t>口服超声充盈造影对胰腺疾病诊断的</a:t>
            </a:r>
            <a:br/>
            <a:r>
              <a:t>AI 模型初构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基于《胃癌超声初筛临床应用中国专家共识意见（2025年版）》诊断逻辑延伸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389120"/>
            <a:ext cx="5760720" cy="10972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4805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2026 医学人工智能前沿学术会议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937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湖州第一医院 · 体检中心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汇报人：XXX 主任    时长：20 分钟    AI 深度：基础入门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720840"/>
            <a:ext cx="12191695" cy="13716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2 / 20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46304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临床背景与痛点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83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胰腺疾病诊断现状与挑战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口服超声充盈造影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技术原理与胰腺成像优势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10896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AI 模型架构设计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三阶段诊断流程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931920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Su-RADS 胰腺分类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51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AI 辅助分级标准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754880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临床应用案例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74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模拟演示与效果展示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577840"/>
            <a:ext cx="548640" cy="5486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合规与展望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科研路径与未来规划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01 临床背景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胰腺疾病诊断现状与挑战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📊 胰腺疾病流行病学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中国胰腺癌发病率逐年上升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5 年生存率仅约 10%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早期诊断率不足 20%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体检人群中胰腺异常检出率约 3-5%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中老年人群是高危群体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微软雅黑"/>
              </a:defRPr>
            </a:pPr>
            <a:r>
              <a:t>⚠️ 当前诊断痛点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胰腺位置深，常规超声成像质量受限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早期病变难以发现，容易漏诊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依赖 CT/MRI，成本高、有辐射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基层医院缺乏经验丰富的超声医师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诊断结果高度依赖操作者经验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缺乏标准化、可量化的诊断体系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02 口服超声充盈造影技术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技术原理与胰腺成像优势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🔬 技术原理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患者口服专用超声造影剂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造影剂在胃肠道内形成均匀充盈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消除胃肠道气体干扰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胃腔作为「声学窗」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透过胃窗观察胰腺等邻近器官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获得清晰、稳定的胰腺图像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微软雅黑"/>
              </a:defRPr>
            </a:pPr>
            <a:r>
              <a:t>✅ 核心优势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无创无辐射，患者接受度高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操作简单，适合体检筛查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成本低廉，可重复检查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成像质量稳定，减少气体干扰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可动态观察胰腺血流情况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🟢 适合基层医院推广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89920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💡 技术依据：《胃癌超声初筛临床应用中国专家共识意见（2025年版）》</a:t>
            </a:r>
            <a:br/>
            <a:r>
              <a:t>已明确口服超声充盈造影在胃部疾病筛查中的价值和标准化流程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AI 模型架构设计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三阶段智能诊断流程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00400" cy="41148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阶段一：数据采集与预处理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📷 图像/视频采集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超声图像质量评估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自动去噪增强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图像标准化处理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📋 患者信息整合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年龄、病史、风险因素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高危人群自动识别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3474720"/>
            <a:ext cx="457200" cy="27432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3200400" cy="411480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微软雅黑"/>
              </a:defRPr>
            </a:pPr>
            <a:r>
              <a:t>阶段二：AI 智能分析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6032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🔍 病灶自动检测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胰腺轮廓自动勾画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可疑病灶区域标注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📐 特征量化测量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胰腺大小、形态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胰管直径测量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回声特征分析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🧠 智能分级评估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Su-RADS 胰腺分类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恶性风险概率计算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38160" y="3474720"/>
            <a:ext cx="457200" cy="27432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743200" cy="411480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微软雅黑"/>
              </a:defRPr>
            </a:pPr>
            <a:r>
              <a:t>阶段三：报告生成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📄 结构化报告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自动填充诊断结论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分级建议处理方案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👨‍⚕️ 医生复核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AI 标注人工确认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补充临床意见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🔐 区块链存证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报告不可篡改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 - 全程可追溯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04 Su-RADS 胰腺分类标准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AI 辅助分级体系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82880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Su-RADS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74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胰腺形态正常，无异常发现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828800" cy="77724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Su-RADS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低危险度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88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良性病变，恶性风险 &lt;2%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828800" cy="7772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Su-RADS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中危险度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03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可能良性，建议短期复查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828800" cy="7772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Su-RADS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高危险度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17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可疑恶性，建议进一步检查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1828800" cy="7772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Su-RADS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/>
              </a:defRPr>
            </a:pPr>
            <a:r>
              <a:t>极高危险度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32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高度怀疑恶性，建议活检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035040"/>
            <a:ext cx="10789920" cy="54864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💡 参考 BI-RADS 乳腺分类体系，结合胰腺超声造影特征制定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AI 技术原理（基础入门）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无需编程知识，理解 AI 如何辅助诊断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🤖 AI 在医学影像中的角色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AI = 计算机视觉 + 深度学习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类比理解：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就像培养一个「超级助手」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看过 10000+ 张超声图像后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能自动识别可疑病灶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AI 不是替代医生，而是：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✓ 提高诊断效率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✓ 减少漏诊误诊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✓ 统一诊断标准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  ✓ 辅助基层医生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84C7"/>
                </a:solidFill>
                <a:latin typeface="微软雅黑"/>
              </a:defRPr>
            </a:pPr>
            <a:r>
              <a:t>⚙️ AI 诊断工作流程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1️⃣  训练阶段（离线）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用大量标注好的图像训练模型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让 AI 学会识别正常 vs 异常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2️⃣  推理阶段（在线）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输入新患者的超声图像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AI 自动分析并输出结果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3️⃣  医生复核（关键环节）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医生确认 AI 的标注和建议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结合临床经验做出最终判断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⚠️  重要提示：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AI 辅助诊断 ≠ AI 独立诊断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最终决策权始终在医生手中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训练数据与模型性能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数据质量决定 AI 诊断上限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📚 训练数据来源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🏥 合作医院超声图像库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胰腺超声造影图像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标注：正常/良性/恶性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📖 公开医学数据集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胰腺超声标准图像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国际多中心研究数据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👨‍⚕️ 专家标注团队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三甲医院超声医师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双盲标注，确保质量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🔒 数据合规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脱敏处理，保护隐私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- 伦理审查通过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84C7"/>
                </a:solidFill>
                <a:latin typeface="微软雅黑"/>
              </a:defRPr>
            </a:pPr>
            <a:r>
              <a:t>📊 目标性能指标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灵敏度（Sensitivity）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目标：≥ 85%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含义：不漏诊，减少假阴性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特异度（Specificity）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目标：≥ 80%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含义：不误诊，减少假阳性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诊断一致性（Kappa）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目标：≥ 0.75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含义：AI 与专家意见一致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诊断时间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目标：≤ 3 分钟/例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   含义：大幅提高效率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05 临床应用案例演示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模拟案例展示 AI 辅助诊断流程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  <a:latin typeface="微软雅黑"/>
              </a:defRPr>
            </a:pPr>
            <a:r>
              <a:t>📋 案例一：中年男性，体检筛查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患者信息：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男，52 岁，无明显症状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常规体检，有吸烟史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检查过程：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1. 口服造影剂 500ml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2. 等待 15 分钟充盈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3. 超声检查胰腺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AI 分析结果：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Su-RADS 2 类（低危险度）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胰腺形态正常，胰管轻度扩张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建议：6 个月后复查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医生复核：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同意 AI 结论，建议定期随访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📋 案例二：老年女性，腹痛就诊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患者信息：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女，65 岁，上腹痛 2 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体重下降，食欲减退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检查过程：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1. 口服造影剂 500ml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2. 等待 15 分钟充盈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3. 超声检查胰腺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AI 分析结果：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Su-RADS 4 类（高危险度）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胰头部低回声占位，可疑恶性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建议：增强 CT + 穿刺活检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医生复核：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同意 AI 结论，安排进一步检查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微软雅黑"/>
              </a:defRPr>
            </a:pPr>
            <a:r>
              <a:t>  病理确诊：胰腺导管腺癌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06 合规边界与科研路径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 Phase 1 科研工具定位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10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微软雅黑"/>
              </a:defRPr>
            </a:pPr>
            <a:r>
              <a:t>✅ 当前阶段允许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科研合作与技术验证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学术交流与论文发表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合规数据采集与标注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内部测试与性能评估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与三甲医院合作研究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伦理审查后的临床试验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技术演示与教学培训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微软雅黑"/>
              </a:defRPr>
            </a:pPr>
            <a:r>
              <a:t>⚠️ 当前阶段禁止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对外宣称「诊断」功能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直接面向患者收费服务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未经伦理审批的数据使用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商业化收费运营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替代医生独立出具报告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未通过三类医疗器械审批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✗ 超出科研范围的应用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三阶段推进策略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Phase 1（当前）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2026 Q2-Q4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🎯 定位：科研工具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技术验证与优化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积累 500+ 标注病例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AI 准确率 ≥ 85%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科研合作模式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伦理审查通过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内部测试验证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63040"/>
            <a:ext cx="3474720" cy="475488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2027 Q1-Q3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🎯 定位：产品化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二类器械备案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试点医院验证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标准化操作流程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多中心临床研究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医生培训体系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商业模式探索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97706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2027 Q4+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🎯 定位：规模化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NMPA 三类证申报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规模化临床应用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医保覆盖探索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基层医院推广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多病种扩展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✓ 国际化布局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系统如何工作（非技术视角）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463040"/>
            <a:ext cx="9418320" cy="9144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🖥️ 用户界面层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医生/患者操作界面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9418320" cy="91440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🧠 AI 分析层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图像识别 + 智能诊断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40480"/>
            <a:ext cx="9418320" cy="91440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📊 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病例数据库 + 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029200"/>
            <a:ext cx="9418320" cy="914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166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🔐 存证层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区块链存证 + 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17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💡 所有数据本地化部署，符合医疗数据安全要求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核心优势总结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为什么选择口服超声充盈造影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🎯 精准 AI 辅助识别，减少漏诊误诊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灵敏度 ≥ 85%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💰 经济 成本仅为 CT/MRI 的 1/5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适合大规模筛查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463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⚡ 高效 AI 分析 &lt; 3 分钟/例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大幅提升效率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🔒 安全 无创无辐射，患者接受度高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可重复检查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749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📊 标准 统一诊断标准，减少主观差异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Su-RADS 分级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9" y="3749040"/>
            <a:ext cx="34747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🌐 普惠 基层医院即可开展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优质医疗资源下沉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微软雅黑"/>
              </a:defRPr>
            </a:pPr>
            <a:r>
              <a:t>从胰腺到多病种的 AI 诊断平台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🔮 短期目标（1-2 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完成胰腺疾病 AI 模型验证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积累 1000+ 标注病例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发表学术论文 2-3 篇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建立 3-5 家合作医院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通过伦理审查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✓ 完成 Phase 1 技术验证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84C7"/>
                </a:solidFill>
                <a:latin typeface="微软雅黑"/>
              </a:defRPr>
            </a:pPr>
            <a:r>
              <a:t>🌟 长期愿景（3-5 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扩展至胃、肝、胆等多病种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建立国家级超声 AI 数据库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推动基层医院普及超声筛查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实现「三甲医院能力下沉」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申报 NMPA 三类医疗器械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  <a:latin typeface="微软雅黑"/>
              </a:defRPr>
            </a:pPr>
            <a:r>
              <a:t>🔸 探索医保覆盖与商业化路径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4C7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5760720" cy="1828800"/>
          </a:xfrm>
          <a:prstGeom prst="round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023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微软雅黑"/>
              </a:defRPr>
            </a:pPr>
            <a:r>
              <a:t>📧 联系我们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7200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AIMED 充盈视界 · 超声造影人工智能联合实验室</a:t>
            </a:r>
          </a:p>
          <a:p>
            <a:pPr algn="ctr"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官网：www.aius.xin</a:t>
            </a:r>
          </a:p>
          <a:p>
            <a:pPr algn="ctr">
              <a:spcAft>
                <a:spcPts val="600"/>
              </a:spcAft>
              <a:defRPr sz="1400">
                <a:solidFill>
                  <a:srgbClr val="1E293B"/>
                </a:solidFill>
                <a:latin typeface="微软雅黑"/>
              </a:defRPr>
            </a:pPr>
            <a:r>
              <a:t>地址：浙江省湖州市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20840"/>
            <a:ext cx="12191695" cy="137160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